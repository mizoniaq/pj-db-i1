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82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Relational Database Application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TI603I — Databases 2  ·  EFREI Paris 2025–2026  ·  </a:t>
            </a:r>
            <a:r>
              <a:rPr lang="en-US" sz="13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DELHI  &amp;  Beya HENI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34416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use cases, domain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502920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2402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CDM, LDM, normalisation to 3NF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502920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66090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6791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Implementation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9077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indexes, triggers, stored procedures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502920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33284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34670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 &amp; JDBC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575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layers, DAO pattern, HikariCP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95928"/>
            <a:ext cx="502920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9959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01421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Challenges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24281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scenarios, bugs solved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FUNCTIONAL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4864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exhibitions &amp; upcoming workshops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4173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54864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51760" y="1554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1874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search by name &amp; discipline filter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4173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54864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status management (sale/exhibited)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14173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720840" y="1417320"/>
            <a:ext cx="54864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858000" y="1554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1874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with rating &amp; contact info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7889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11480" y="2788920"/>
            <a:ext cx="54864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4864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gallery / date range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27889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514600" y="2788920"/>
            <a:ext cx="54864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65176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51760" y="3246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 capacity enforcement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7889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617720" y="2788920"/>
            <a:ext cx="54864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75488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3246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reviews &amp; bookings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FUNCTIONAL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840480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(Artist / Admin)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their artist profile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edit artworks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workshops (as instructor)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gallery exhibitions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50292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9204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Member (Visitor)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artists, artworks, exhibitions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/ discipline / 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workshop (with capacity check)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429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review (rating 1–5 + comment)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Authentication, UI reviews and booking UI are planned / evolutionary features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DATABASE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Tables: 10 Entities + 4 Junction Tables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4864" cy="5486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21208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316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artist_id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" y="1572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is_active, city, social_media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54864" cy="5486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910328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1316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artwork_id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10328" y="1572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status, price, artist_id FK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93852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1938528"/>
            <a:ext cx="54864" cy="54864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21208" y="1975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19751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gallery_id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" y="22311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opening_hours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93852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54880" y="1938528"/>
            <a:ext cx="54864" cy="54864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10328" y="1975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19751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exhibition_id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0328" y="22311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 ≤ end_date (CHECK)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59689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2596896"/>
            <a:ext cx="54864" cy="54864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21208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26334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workshop_id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" y="28895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max_participants, level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59689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54880" y="2596896"/>
            <a:ext cx="54864" cy="54864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910328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CommunityMember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26334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0328" y="28895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membership_type (free/premium)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25526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65760" y="3255264"/>
            <a:ext cx="54864" cy="54864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21208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77440" y="3291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booking_id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" y="3547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UNIQUE(workshop_id, member_id)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25526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754880" y="3255264"/>
            <a:ext cx="54864" cy="54864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910328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66560" y="3291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review_id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0328" y="3547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CHECK(1–5)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391363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365760" y="3913632"/>
            <a:ext cx="54864" cy="54864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21208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377440" y="3950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discipline_id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1208" y="4206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UNIQUE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391363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4754880" y="3913632"/>
            <a:ext cx="54864" cy="54864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910328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ArtworkTag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66560" y="3950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tag_id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10328" y="4206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UNIQUE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+ 4 Junction Tables:  </a:t>
            </a: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artist_discipline  ·  member_favorite_discipline  ·  exhibition_artwork  ·  artwork_artwork_tag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DATABASE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 (CDM)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22960" cy="713232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362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 →  Artwork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6824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DELETE CASCADE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2984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00600" y="1298448"/>
            <a:ext cx="822960" cy="713232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00600" y="129844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1362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 →  Workshop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16824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DELETE RESTRICT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671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2167128"/>
            <a:ext cx="822960" cy="7132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216712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231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 →  Discipline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551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 artist_discipline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1671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00600" y="2167128"/>
            <a:ext cx="822960" cy="71323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00600" y="216712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2231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 →  Exhibition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2551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gallery_id FK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0358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035808"/>
            <a:ext cx="822960" cy="7132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303580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3099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  →  Artwork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34198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 exhibition_artwork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0358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800600" y="3035808"/>
            <a:ext cx="822960" cy="71323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00600" y="303580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60720" y="3099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 →  Booking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60720" y="34198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 trigger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9044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65760" y="3904488"/>
            <a:ext cx="822960" cy="71323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65760" y="390448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25880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CommunityMember  →  Booking/Review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25880" y="42885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member_id FK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9044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800600" y="3904488"/>
            <a:ext cx="822960" cy="7132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800600" y="390448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760720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CommunityMember  →  Discipline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60720" y="42885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 member_favorite_discipline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DATABASE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to 3NF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77724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777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 — no repeating groups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model used List&lt;Discipline&gt;, List&lt;Artwork&gt; etc. → all multi-valued attributes extracted into junction tables (one value per row)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are atomic ✓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777240" cy="105156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777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560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non-key attribute depends on the whole primary key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tables have composite PKs but no non-key attributes → trivially satisfied. booking_id surrogate key added for Booking.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satisfied for all tables ✓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675888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777240" cy="105156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3675888"/>
            <a:ext cx="777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 between non-key attributes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curator_name depends on exhibition_id, not on gallery_id. membership_type depends on member_id, not transitively on city.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80160" y="4389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 — 3NF validated ✓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ADVANCED SQL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(5) &amp; Indexes (6)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931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54864" cy="5120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6093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v_artist_portfolio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— avoids 3 JOINs on every Artists tab load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3931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54864" cy="5120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2203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v_workshop_availability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441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— computes remaining spots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3931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2761488"/>
            <a:ext cx="54864" cy="5120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2798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v_member_activity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035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hides email and phone columns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355848"/>
            <a:ext cx="3931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3355848"/>
            <a:ext cx="54864" cy="5120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3392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v_exhibition_details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630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— gallery + duration + artwork count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3931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3950208"/>
            <a:ext cx="54864" cy="5120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3986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v_artwork_catalog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224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— artist name, tags, avg rating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57276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09160" y="1572768"/>
            <a:ext cx="54864" cy="51206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92040" y="16093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idx_artwork_artist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847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artwork(artist_id)  —  Used in every artwork-artist JOIN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16712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709160" y="2167128"/>
            <a:ext cx="54864" cy="51206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92040" y="22037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idx_artwork_status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24414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artwork(status)  —  WHERE status = 'FOR_SALE' filters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76148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709160" y="2761488"/>
            <a:ext cx="54864" cy="51206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92040" y="2798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idx_exhibition_dates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035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exhibition(start_date, end_date)  —  Composite for date-range queries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335584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709160" y="3355848"/>
            <a:ext cx="54864" cy="51206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892040" y="33924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idx_review_artwork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630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review(artwork_id)  —  AVG(rating) in v_artwork_catalog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95020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709160" y="3950208"/>
            <a:ext cx="54864" cy="51206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892040" y="39867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idx_booking_workshop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4224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booking(workshop_id)  —  Used by the capacity trigger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454456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709160" y="4544568"/>
            <a:ext cx="54864" cy="51206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892040" y="4581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idx_workshop_date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92040" y="48188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workshop(date)  —  ORDER BY / upcoming workshop scans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ADVANCED SQL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(4)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468880" cy="7498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trg_check_workshop_capacity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282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INSERT ON booking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71800" y="1426464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PAID/PENDING bookings vs max_participants. Raises SIGNAL SQLSTATE '45000' if workshop is full → overbooking prevention.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85416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2185416"/>
            <a:ext cx="2468880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2258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trg_audit_artwork_status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151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UPDATE ON artwork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71800" y="231343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 row into audit_log on every status change (e.g. FOR_SALE → SOLD) with old and new value → full traceability.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72384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2468880" cy="749808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31455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trg_set_artwork_exhibited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5021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INSERT ON exhibition_artwork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71800" y="32004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sets the artwork status to EXHIBITED when linked to an active exhibition → zero application code required.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5935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2468880" cy="749808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40325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trg_check_exhibition_date_consistency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UPDATE ON exhibition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71800" y="408736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end_date ≥ start_date before any exhibition update → temporal data integrity.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ADVANCED SQL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Programs &amp; Transactions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FUNCTIONS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54864" cy="5303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609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[FUNCTION]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fn_get_workshop_available_spots(id)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remaining spots for a given workshop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85416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2185416"/>
            <a:ext cx="54864" cy="5303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221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[FUNCTION]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3408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fn_get_artist_average_rating(id)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4963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 across all artworks of an artist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54864" cy="53035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[PROCEDURE]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2939627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sp_create_workshop_with_artist(...)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workshop and instructor artist if not yet in DB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10712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3410712"/>
            <a:ext cx="54864" cy="53035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48640" y="3447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[PROCEDURE]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35570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sp_register_member_to_workshops(id, ids)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7216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 member to multiple workshops at once (skips full ones)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54864" cy="53035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48640" y="4059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[PROCEDURE]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41640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sp_generate_artist_report(id)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3342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dossier: artworks, exhibitions, workshops, disciplines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0" y="1234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1572768"/>
            <a:ext cx="3794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029200" y="1572768"/>
            <a:ext cx="3794760" cy="4389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120640" y="16459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 —  COMMIT — Successful registration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1031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premium member → 2 favourite disciplines → 3 workshops → 2 reviews — all atomically in a single transaction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3401568"/>
            <a:ext cx="3794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5029200" y="3401568"/>
            <a:ext cx="3794760" cy="438912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120640" y="34747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 —  ROLLBACK — Full workshop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39319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trigger raises SIGNAL → EXIT HANDLER FOR SQLEXCEPTION → ROLLBACK → no partial data persisted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APPLICATION ARCHITECTURE &amp; JDBC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Layered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5943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2710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23 + FXML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9476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controllers — collect input, delegate to services, update UI.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560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ArtistController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017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WorkshopController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MainController (refresh listener)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9319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DiscoverController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91840" y="1234440"/>
            <a:ext cx="2697480" cy="59436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83280" y="12710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5544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interfaces + JDBC impls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01568" y="19476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validation, transaction management.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2560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JdbcArtistService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3017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JdbcWorkshopService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1568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InMemoryXxxService (offline tests)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1568" y="39319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ServiceProvider (manual DI)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217920" y="1234440"/>
            <a:ext cx="2697480" cy="59436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309360" y="12710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15544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PreparedStatements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27648" y="19476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execution, ResultSet mapping, connection management.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7648" y="2560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JdbcArtistDao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27648" y="3017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JdbcArtworkDao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7648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ConnectionManager (pool)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27648" y="39319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4754880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200400" y="4754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8  (utf8mb4)  ←→  HikariCP  ←→  JDBC 4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APPLICATION ARCHITECTURE &amp; JDBC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Patterns: DAO &amp; ServiceProvider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4114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ServiceProvider — Dependency Injection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singleton providing one instance of each service to every controller.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Allows swapping JdbcArtistService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for InMemoryArtistService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without touching the UI layer.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023360" cy="41148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46320" y="1298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 — Connection Pool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minIdle=2 / maxPool=10. JDBC URL includes useUnicode=true&amp;characterEncoding=UTF-8.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762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Credentials in database.properties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try-with-resources on every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PreparedStatement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56432"/>
            <a:ext cx="8412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3456432"/>
            <a:ext cx="8412480" cy="38404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34747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Transactional artist creation (JdbcArtistDao)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90448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setAutoCommit(false)  →  INSERT artist  →  LAST_INSERT_ID()  →  INSERT artist_discipline  →  commit()  |  catch: rollback()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2976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on artwork.artist_id: deleting an artist automatically purges all their artworks and artist_discipline rows.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TESTS &amp; CHALLENGES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Test Scenarios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743200" cy="457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CRUD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828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getAllArtists() → list loaded from MySQL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244144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search / discipline filter (JOIN)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305409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artist + discipline (transaction)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366674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city → UPDATE + re-INSERT disciplines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42793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→ CASCADE on artworks &amp; artist_discipline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261872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91840" y="1261872"/>
            <a:ext cx="2743200" cy="45720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383280" y="1261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CRUD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1828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artwork-artist to reconstruct object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01568" y="244144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with sub-query resolving artist_id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01568" y="305409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SOLD → audit trigger fires in audit_log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01568" y="366674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→ tab auto-refreshes via listener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01568" y="42793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artist → artworks gone on next tab focus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261872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217920" y="1261872"/>
            <a:ext cx="2743200" cy="4572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309360" y="1261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/ Triggers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7648" y="1828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booking → available_spots decrements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27648" y="244144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workshop → SIGNAL shown as UI error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27648" y="305409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booking → available_spots increments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366674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artwork to exhibition → EXHIBITED auto-set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27648" y="42793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exhibition dates → trigger blocks UPDATE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TESTS &amp; CHALLENGES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84124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1828800" cy="768096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38912" y="1371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Encoding Corruption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7007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with special chars (e.g. 'Lucas Engström') appeared as ??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31720" y="143560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useUnicode=true&amp;characterEncoding=UTF-8 to the JDBC URL + targeted UPDATE statements to fix already-corrupted rows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84124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1828800" cy="76809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Discipline Filter Bug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5968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added artist not appearing when filtering by discipline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31720" y="233172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ComboBox&lt;Discipline&gt; to the Add Artist dialog → discipline inserted in artist_discipline inside the creation transaction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84124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3090672"/>
            <a:ext cx="1828800" cy="768096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38912" y="316382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After Cascade Delete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34930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Artworks tab still showed artworks after their artist was deleted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31720" y="322783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tab-selection listener in MainController → calls artworksController.refresh() every time the Artworks tab gains focus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86784"/>
            <a:ext cx="84124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65760" y="3986784"/>
            <a:ext cx="1828800" cy="768096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38912" y="4059936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FK IDs in Data Script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4389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with artist_id = 7 caused FK violations on other machines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31720" y="4123944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all hardcoded IDs with SELECT sub-queries resolving entities by name → script is now portable across environments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show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160520" cy="100584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9436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408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CRUD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71907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artist with a discipline → verify INSERT in MySQL Workbench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298448"/>
            <a:ext cx="4160520" cy="100584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892040" y="1298448"/>
            <a:ext cx="59436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92040" y="1298448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23560" y="1408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171907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artist → artworks disappear in the Artworks tab (ON DELETE CASCADE)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4160520" cy="100584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02920" y="2468880"/>
            <a:ext cx="594360" cy="100584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2920" y="2468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Trigger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288950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an artwork as SOLD → show the new row in audit_log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468880"/>
            <a:ext cx="4160520" cy="100584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892040" y="2468880"/>
            <a:ext cx="594360" cy="100584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92040" y="2468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Booking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288950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spot on a workshop → available_spots decrements in the 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639312"/>
            <a:ext cx="4160520" cy="100584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02920" y="3639312"/>
            <a:ext cx="594360" cy="100584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02920" y="3639312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Trigger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0599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book a full workshop → SIGNAL raised, error message displayed in the UI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639312"/>
            <a:ext cx="4160520" cy="100584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892040" y="3639312"/>
            <a:ext cx="594360" cy="100584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92040" y="3639312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62356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23560" y="40599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sp_generate_artist_report(1) in MySQL Workbench → full artist dossier returned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468880" cy="109728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12893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8562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tables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(3NF, utf8mb4)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468880" cy="109728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337560" y="12893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337560" y="18562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+ audit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2468880" cy="109728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172200" y="12893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172200" y="18562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+ security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2468880" cy="109728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26151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optimisation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560320"/>
            <a:ext cx="2468880" cy="109728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337560" y="26151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337560" y="3182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programs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(functions + procedures)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560320"/>
            <a:ext cx="2468880" cy="1097280"/>
          </a:xfrm>
          <a:prstGeom prst="rect">
            <a:avLst/>
          </a:prstGeom>
          <a:solidFill>
            <a:srgbClr val="1B2B3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172200" y="26151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172200" y="3182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placing business rules at the database level (triggers, constraints) makes them enforcement-proof — regardless of which client connects.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1830</Words>
  <Application>Microsoft Office PowerPoint</Application>
  <PresentationFormat>Affichage à l'écran (16:9)</PresentationFormat>
  <Paragraphs>315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ArtConnect Pro — TI603I</dc:title>
  <dc:subject>PptxGenJS Presentation</dc:subject>
  <dc:creator>Noah DELHI &amp; Beya HENI</dc:creator>
  <cp:lastModifiedBy>Noah DELHI</cp:lastModifiedBy>
  <cp:revision>3</cp:revision>
  <dcterms:created xsi:type="dcterms:W3CDTF">2026-05-20T11:55:59Z</dcterms:created>
  <dcterms:modified xsi:type="dcterms:W3CDTF">2026-05-20T13:45:08Z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SetDate">
    <vt:lpwstr>2026-05-20T11:59:09Z</vt:lpwstr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Name">
    <vt:lpwstr>defa4170-0d19-0005-0004-bc88714345d2</vt:lpwstr>
  </property>
  <property fmtid="{D5CDD505-2E9C-101B-9397-08002B2CF9AE}" pid="6" name="MSIP_Label_47e7dfc5-2bf4-4a75-8664-2dc4b3bb1d09_SiteId">
    <vt:lpwstr>413600cf-bd4e-4c7c-8a61-69e73cddf731</vt:lpwstr>
  </property>
  <property fmtid="{D5CDD505-2E9C-101B-9397-08002B2CF9AE}" pid="7" name="MSIP_Label_47e7dfc5-2bf4-4a75-8664-2dc4b3bb1d09_ActionId">
    <vt:lpwstr>75af5986-1cdf-454e-899d-b5b64ddb61ba</vt:lpwstr>
  </property>
  <property fmtid="{D5CDD505-2E9C-101B-9397-08002B2CF9AE}" pid="8" name="MSIP_Label_47e7dfc5-2bf4-4a75-8664-2dc4b3bb1d09_ContentBits">
    <vt:lpwstr>0</vt:lpwstr>
  </property>
  <property fmtid="{D5CDD505-2E9C-101B-9397-08002B2CF9AE}" pid="9" name="MSIP_Label_47e7dfc5-2bf4-4a75-8664-2dc4b3bb1d09_Tag">
    <vt:lpwstr>10, 3, 0, 1</vt:lpwstr>
  </property>
</Properties>
</file>